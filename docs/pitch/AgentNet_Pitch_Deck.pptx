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1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6261F"/>
                </a:solidFill>
                <a:latin typeface="Arial"/>
              </a:defRPr>
            </a:pPr>
            <a:r>
              <a:rPr sz="1300" b="0" i="0" u="none" strike="noStrike">
                <a:solidFill>
                  <a:srgbClr val="16261F"/>
                </a:solidFill>
                <a:latin typeface="Arial"/>
              </a:rPr>
              <a:t>Global Islamic Economy &amp; Finance (US$ Trillion)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2024</c:v>
                </c:pt>
              </c:strCache>
            </c:strRef>
          </c:tx>
          <c:spPr>
            <a:solidFill>
              <a:srgbClr val="0F4C3A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6261F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Islamic Economy</c:v>
                  </c:pt>
                  <c:pt idx="1">
                    <c:v>Islamic Finance Assets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2.6</c:v>
                </c:pt>
                <c:pt idx="1">
                  <c:v>5.99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2029 (proj.)</c:v>
                </c:pt>
              </c:strCache>
            </c:strRef>
          </c:tx>
          <c:spPr>
            <a:solidFill>
              <a:srgbClr val="C9A227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6261F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Islamic Economy</c:v>
                  </c:pt>
                  <c:pt idx="1">
                    <c:v>Islamic Finance Assets</c:v>
                  </c:pt>
                </c:lvl>
              </c:multiLvlStrCache>
            </c:multiLvl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3.56</c:v>
                </c:pt>
                <c:pt idx="1">
                  <c:v>9.72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16261F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3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B6B63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E4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B6B63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
              <a:solidFill>
                <a:srgbClr val="5B6B63"/>
              </a:solidFill>
            </a:defRPr>
          </a:pPr>
          <a:endParaRPr lang="en-US"/>
        </a:p>
      </c:txPr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image" Target="../media/image-4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image" Target="../media/image-9-6.png"/><Relationship Id="rId7" Type="http://schemas.openxmlformats.org/officeDocument/2006/relationships/image" Target="../media/image-9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4C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195560" y="594360"/>
            <a:ext cx="960120" cy="960120"/>
          </a:xfrm>
          <a:prstGeom prst="ellipse">
            <a:avLst/>
          </a:prstGeom>
          <a:solidFill>
            <a:srgbClr val="0A352A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45191" y="843991"/>
            <a:ext cx="460858" cy="46085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40080" y="1691640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 A R A K A   A I</a:t>
            </a:r>
            <a:endParaRPr lang="en-US" sz="1400" dirty="0"/>
          </a:p>
        </p:txBody>
      </p:sp>
      <p:sp>
        <p:nvSpPr>
          <p:cNvPr id="5" name="Text 2"/>
          <p:cNvSpPr/>
          <p:nvPr/>
        </p:nvSpPr>
        <p:spPr>
          <a:xfrm>
            <a:off x="640080" y="2057400"/>
            <a:ext cx="91440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AgentNet</a:t>
            </a:r>
            <a:endParaRPr lang="en-US" sz="6400" dirty="0"/>
          </a:p>
        </p:txBody>
      </p:sp>
      <p:sp>
        <p:nvSpPr>
          <p:cNvPr id="6" name="Text 3"/>
          <p:cNvSpPr/>
          <p:nvPr/>
        </p:nvSpPr>
        <p:spPr>
          <a:xfrm>
            <a:off x="640080" y="3337560"/>
            <a:ext cx="8961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4EF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halal-first, no-code multi-agent AI platform for life &amp; business</a:t>
            </a:r>
            <a:endParaRPr lang="en-US" sz="2000" dirty="0"/>
          </a:p>
        </p:txBody>
      </p:sp>
      <p:sp>
        <p:nvSpPr>
          <p:cNvPr id="7" name="Shape 4"/>
          <p:cNvSpPr/>
          <p:nvPr/>
        </p:nvSpPr>
        <p:spPr>
          <a:xfrm>
            <a:off x="640080" y="5074920"/>
            <a:ext cx="1060704" cy="420624"/>
          </a:xfrm>
          <a:prstGeom prst="roundRect">
            <a:avLst>
              <a:gd name="adj" fmla="val 50000"/>
            </a:avLst>
          </a:prstGeom>
          <a:solidFill>
            <a:srgbClr val="0A352A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640080" y="5074920"/>
            <a:ext cx="106070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E4C7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Pre-Seed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1883664" y="5074920"/>
            <a:ext cx="1252728" cy="420624"/>
          </a:xfrm>
          <a:prstGeom prst="roundRect">
            <a:avLst>
              <a:gd name="adj" fmla="val 50000"/>
            </a:avLst>
          </a:prstGeom>
          <a:solidFill>
            <a:srgbClr val="0A352A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1883664" y="5074920"/>
            <a:ext cx="125272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E4C7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Idea Stage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3319272" y="5074920"/>
            <a:ext cx="1732788" cy="420624"/>
          </a:xfrm>
          <a:prstGeom prst="roundRect">
            <a:avLst>
              <a:gd name="adj" fmla="val 50000"/>
            </a:avLst>
          </a:prstGeom>
          <a:solidFill>
            <a:srgbClr val="0A352A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3319272" y="5074920"/>
            <a:ext cx="173278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E4C7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AI-Native</a:t>
            </a:r>
            <a:endParaRPr lang="en-US" sz="1250" dirty="0"/>
          </a:p>
        </p:txBody>
      </p:sp>
      <p:sp>
        <p:nvSpPr>
          <p:cNvPr id="13" name="Text 10"/>
          <p:cNvSpPr/>
          <p:nvPr/>
        </p:nvSpPr>
        <p:spPr>
          <a:xfrm>
            <a:off x="640080" y="617220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DBB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Alchemist Silkroad · Silicon Valley Residency Application · June 2026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911535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626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Life and business run on disconnected tools — and none share your values</a:t>
            </a:r>
            <a:endParaRPr lang="en-US" sz="2900" dirty="0"/>
          </a:p>
        </p:txBody>
      </p:sp>
      <p:sp>
        <p:nvSpPr>
          <p:cNvPr id="3" name="Shape 1"/>
          <p:cNvSpPr/>
          <p:nvPr/>
        </p:nvSpPr>
        <p:spPr>
          <a:xfrm>
            <a:off x="640080" y="1783080"/>
            <a:ext cx="566928" cy="566928"/>
          </a:xfrm>
          <a:prstGeom prst="ellipse">
            <a:avLst/>
          </a:prstGeom>
          <a:solidFill>
            <a:srgbClr val="0F4C3A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7481" y="1930481"/>
            <a:ext cx="272125" cy="272125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417320" y="1746504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626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Fragmented life-admin</a:t>
            </a:r>
            <a:endParaRPr lang="en-US" sz="1650" dirty="0"/>
          </a:p>
        </p:txBody>
      </p:sp>
      <p:sp>
        <p:nvSpPr>
          <p:cNvPr id="6" name="Text 3"/>
          <p:cNvSpPr/>
          <p:nvPr/>
        </p:nvSpPr>
        <p:spPr>
          <a:xfrm>
            <a:off x="1417320" y="2112264"/>
            <a:ext cx="5486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People juggle 10+ apps for health, prayer, finance, and family — with no single trusted AI layer connecting them.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640080" y="3081528"/>
            <a:ext cx="566928" cy="566928"/>
          </a:xfrm>
          <a:prstGeom prst="ellipse">
            <a:avLst/>
          </a:prstGeom>
          <a:solidFill>
            <a:srgbClr val="0F4C3A"/>
          </a:solidFill>
          <a:ln/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7481" y="3228929"/>
            <a:ext cx="272125" cy="272125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417320" y="3044952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626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 business can't afford enterprise tools</a:t>
            </a:r>
            <a:endParaRPr lang="en-US" sz="1650" dirty="0"/>
          </a:p>
        </p:txBody>
      </p:sp>
      <p:sp>
        <p:nvSpPr>
          <p:cNvPr id="10" name="Text 6"/>
          <p:cNvSpPr/>
          <p:nvPr/>
        </p:nvSpPr>
        <p:spPr>
          <a:xfrm>
            <a:off x="1417320" y="3410712"/>
            <a:ext cx="5486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shops and traders can't afford enterprise-grade inventory, security, or bookkeeping software.</a:t>
            </a:r>
            <a:endParaRPr lang="en-US" sz="1300" dirty="0"/>
          </a:p>
        </p:txBody>
      </p:sp>
      <p:sp>
        <p:nvSpPr>
          <p:cNvPr id="11" name="Shape 7"/>
          <p:cNvSpPr/>
          <p:nvPr/>
        </p:nvSpPr>
        <p:spPr>
          <a:xfrm>
            <a:off x="640080" y="4379976"/>
            <a:ext cx="566928" cy="566928"/>
          </a:xfrm>
          <a:prstGeom prst="ellipse">
            <a:avLst/>
          </a:prstGeom>
          <a:solidFill>
            <a:srgbClr val="0F4C3A"/>
          </a:solidFill>
          <a:ln/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7481" y="4527377"/>
            <a:ext cx="272125" cy="272125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417320" y="43434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626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values-aligned AI platform exists</a:t>
            </a:r>
            <a:endParaRPr lang="en-US" sz="1650" dirty="0"/>
          </a:p>
        </p:txBody>
      </p:sp>
      <p:sp>
        <p:nvSpPr>
          <p:cNvPr id="14" name="Text 9"/>
          <p:cNvSpPr/>
          <p:nvPr/>
        </p:nvSpPr>
        <p:spPr>
          <a:xfrm>
            <a:off x="1417320" y="4709160"/>
            <a:ext cx="5486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n8n, Flowise, and Dify are generic automation tools — none filter content against religious or ethical values.</a:t>
            </a:r>
            <a:endParaRPr lang="en-US" sz="1300" dirty="0"/>
          </a:p>
        </p:txBody>
      </p:sp>
      <p:sp>
        <p:nvSpPr>
          <p:cNvPr id="15" name="Shape 10"/>
          <p:cNvSpPr/>
          <p:nvPr/>
        </p:nvSpPr>
        <p:spPr>
          <a:xfrm>
            <a:off x="7452360" y="1783080"/>
            <a:ext cx="4069080" cy="3794760"/>
          </a:xfrm>
          <a:prstGeom prst="roundRect">
            <a:avLst>
              <a:gd name="adj" fmla="val 2892"/>
            </a:avLst>
          </a:prstGeom>
          <a:solidFill>
            <a:srgbClr val="EEF4F0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6" name="Text 11"/>
          <p:cNvSpPr/>
          <p:nvPr/>
        </p:nvSpPr>
        <p:spPr>
          <a:xfrm>
            <a:off x="7726680" y="2148840"/>
            <a:ext cx="3566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0F4C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2.0B</a:t>
            </a:r>
            <a:endParaRPr lang="en-US" sz="6000" dirty="0"/>
          </a:p>
        </p:txBody>
      </p:sp>
      <p:sp>
        <p:nvSpPr>
          <p:cNvPr id="17" name="Text 12"/>
          <p:cNvSpPr/>
          <p:nvPr/>
        </p:nvSpPr>
        <p:spPr>
          <a:xfrm>
            <a:off x="7726680" y="3154680"/>
            <a:ext cx="3520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26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Muslims worldwide today — growing to 2.8B by 2050.</a:t>
            </a:r>
            <a:endParaRPr lang="en-US" sz="1400" dirty="0"/>
          </a:p>
        </p:txBody>
      </p:sp>
      <p:sp>
        <p:nvSpPr>
          <p:cNvPr id="18" name="Text 13"/>
          <p:cNvSpPr/>
          <p:nvPr/>
        </p:nvSpPr>
        <p:spPr>
          <a:xfrm>
            <a:off x="7726680" y="3840480"/>
            <a:ext cx="35204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5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mainstream no-code AI agent platforms are built around their values.</a:t>
            </a:r>
            <a:endParaRPr lang="en-US" sz="1250" dirty="0"/>
          </a:p>
        </p:txBody>
      </p:sp>
      <p:sp>
        <p:nvSpPr>
          <p:cNvPr id="19" name="Text 14"/>
          <p:cNvSpPr/>
          <p:nvPr/>
        </p:nvSpPr>
        <p:spPr>
          <a:xfrm>
            <a:off x="7726680" y="5166360"/>
            <a:ext cx="3520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Pew Research; DinarStandard 2025/26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911535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626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AI agent ecosystem for your whole life — filtered through a built-in Halal layer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640080" y="1783080"/>
            <a:ext cx="3429000" cy="3246120"/>
          </a:xfrm>
          <a:prstGeom prst="roundRect">
            <a:avLst>
              <a:gd name="adj" fmla="val 2817"/>
            </a:avLst>
          </a:prstGeom>
          <a:solidFill>
            <a:srgbClr val="EEF4F0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960120" y="2103120"/>
            <a:ext cx="594360" cy="594360"/>
          </a:xfrm>
          <a:prstGeom prst="ellipse">
            <a:avLst/>
          </a:prstGeom>
          <a:solidFill>
            <a:srgbClr val="0F4C3A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14654" y="2257654"/>
            <a:ext cx="285293" cy="285293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914400" y="2834640"/>
            <a:ext cx="2880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626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 Agents</a:t>
            </a:r>
            <a:endParaRPr lang="en-US" sz="1700" dirty="0"/>
          </a:p>
        </p:txBody>
      </p:sp>
      <p:sp>
        <p:nvSpPr>
          <p:cNvPr id="7" name="Text 4"/>
          <p:cNvSpPr/>
          <p:nvPr/>
        </p:nvSpPr>
        <p:spPr>
          <a:xfrm>
            <a:off x="914400" y="3337560"/>
            <a:ext cx="292608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5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 &amp; sport coaching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5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Prayer times &amp; Qur'an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5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Mental wellness support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4361688" y="1783080"/>
            <a:ext cx="3429000" cy="3246120"/>
          </a:xfrm>
          <a:prstGeom prst="roundRect">
            <a:avLst>
              <a:gd name="adj" fmla="val 2817"/>
            </a:avLst>
          </a:prstGeom>
          <a:solidFill>
            <a:srgbClr val="EEF4F0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4681728" y="2103120"/>
            <a:ext cx="594360" cy="594360"/>
          </a:xfrm>
          <a:prstGeom prst="ellipse">
            <a:avLst/>
          </a:prstGeom>
          <a:solidFill>
            <a:srgbClr val="0F4C3A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36262" y="2257654"/>
            <a:ext cx="285293" cy="285293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4636008" y="2834640"/>
            <a:ext cx="2880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626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Agents</a:t>
            </a:r>
            <a:endParaRPr lang="en-US" sz="1700" dirty="0"/>
          </a:p>
        </p:txBody>
      </p:sp>
      <p:sp>
        <p:nvSpPr>
          <p:cNvPr id="12" name="Text 8"/>
          <p:cNvSpPr/>
          <p:nvPr/>
        </p:nvSpPr>
        <p:spPr>
          <a:xfrm>
            <a:off x="4636008" y="3337560"/>
            <a:ext cx="292608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5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Inventory tracking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5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 security cameras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5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Accounting &amp; customer service</a:t>
            </a:r>
            <a:endParaRPr lang="en-US" sz="1300" dirty="0"/>
          </a:p>
        </p:txBody>
      </p:sp>
      <p:sp>
        <p:nvSpPr>
          <p:cNvPr id="13" name="Shape 9"/>
          <p:cNvSpPr/>
          <p:nvPr/>
        </p:nvSpPr>
        <p:spPr>
          <a:xfrm>
            <a:off x="8083296" y="1783080"/>
            <a:ext cx="3429000" cy="3246120"/>
          </a:xfrm>
          <a:prstGeom prst="roundRect">
            <a:avLst>
              <a:gd name="adj" fmla="val 2817"/>
            </a:avLst>
          </a:prstGeom>
          <a:solidFill>
            <a:srgbClr val="EEF4F0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8403336" y="2103120"/>
            <a:ext cx="594360" cy="594360"/>
          </a:xfrm>
          <a:prstGeom prst="ellipse">
            <a:avLst/>
          </a:prstGeom>
          <a:solidFill>
            <a:srgbClr val="0F4C3A"/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57870" y="2257654"/>
            <a:ext cx="285293" cy="285293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8357616" y="2834640"/>
            <a:ext cx="2880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626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Family Agents</a:t>
            </a:r>
            <a:endParaRPr lang="en-US" sz="1700" dirty="0"/>
          </a:p>
        </p:txBody>
      </p:sp>
      <p:sp>
        <p:nvSpPr>
          <p:cNvPr id="17" name="Text 12"/>
          <p:cNvSpPr/>
          <p:nvPr/>
        </p:nvSpPr>
        <p:spPr>
          <a:xfrm>
            <a:off x="8357616" y="3337560"/>
            <a:ext cx="292608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5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Household budget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5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Kids' education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5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family schedule</a:t>
            </a:r>
            <a:endParaRPr lang="en-US" sz="1300" dirty="0"/>
          </a:p>
        </p:txBody>
      </p:sp>
      <p:sp>
        <p:nvSpPr>
          <p:cNvPr id="18" name="Shape 13"/>
          <p:cNvSpPr/>
          <p:nvPr/>
        </p:nvSpPr>
        <p:spPr>
          <a:xfrm>
            <a:off x="640080" y="5349240"/>
            <a:ext cx="10911535" cy="777240"/>
          </a:xfrm>
          <a:prstGeom prst="roundRect">
            <a:avLst>
              <a:gd name="adj" fmla="val 11765"/>
            </a:avLst>
          </a:prstGeom>
          <a:solidFill>
            <a:srgbClr val="0F4C3A"/>
          </a:solidFill>
          <a:ln/>
        </p:spPr>
      </p:sp>
      <p:sp>
        <p:nvSpPr>
          <p:cNvPr id="19" name="Text 14"/>
          <p:cNvSpPr/>
          <p:nvPr/>
        </p:nvSpPr>
        <p:spPr>
          <a:xfrm>
            <a:off x="914400" y="5349240"/>
            <a:ext cx="1036289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i="1" dirty="0">
                <a:solidFill>
                  <a:srgbClr val="E4C7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via chat or no-code canvas  →  monitored by the Halal Filter  →  shareable on the Marketplace for royalties</a:t>
            </a:r>
            <a:endParaRPr lang="en-US" sz="14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91153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26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AgentNet works, under the hood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920344" y="2103120"/>
            <a:ext cx="2395728" cy="2651760"/>
          </a:xfrm>
          <a:prstGeom prst="roundRect">
            <a:avLst>
              <a:gd name="adj" fmla="val 3817"/>
            </a:avLst>
          </a:prstGeom>
          <a:solidFill>
            <a:srgbClr val="EEF4F0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1798168" y="2377440"/>
            <a:ext cx="640080" cy="640080"/>
          </a:xfrm>
          <a:prstGeom prst="ellipse">
            <a:avLst/>
          </a:prstGeom>
          <a:solidFill>
            <a:srgbClr val="0F4C3A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64588" y="2543861"/>
            <a:ext cx="307238" cy="30723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084936" y="3200400"/>
            <a:ext cx="206654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626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describe or drag-and-drop</a:t>
            </a:r>
            <a:endParaRPr lang="en-US" sz="1350" dirty="0"/>
          </a:p>
        </p:txBody>
      </p:sp>
      <p:sp>
        <p:nvSpPr>
          <p:cNvPr id="7" name="Text 4"/>
          <p:cNvSpPr/>
          <p:nvPr/>
        </p:nvSpPr>
        <p:spPr>
          <a:xfrm>
            <a:off x="1084936" y="3794760"/>
            <a:ext cx="206654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an agent by chatting or using the visual no-code canvas.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3252064" y="3236976"/>
            <a:ext cx="384048" cy="384048"/>
          </a:xfrm>
          <a:prstGeom prst="ellipse">
            <a:avLst/>
          </a:prstGeom>
          <a:solidFill>
            <a:srgbClr val="C9A227"/>
          </a:soli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51916" y="3336828"/>
            <a:ext cx="184343" cy="184343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3572104" y="2103120"/>
            <a:ext cx="2395728" cy="2651760"/>
          </a:xfrm>
          <a:prstGeom prst="roundRect">
            <a:avLst>
              <a:gd name="adj" fmla="val 3817"/>
            </a:avLst>
          </a:prstGeom>
          <a:solidFill>
            <a:srgbClr val="EEF4F0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4449928" y="2377440"/>
            <a:ext cx="640080" cy="640080"/>
          </a:xfrm>
          <a:prstGeom prst="ellipse">
            <a:avLst/>
          </a:prstGeom>
          <a:solidFill>
            <a:srgbClr val="0F4C3A"/>
          </a:solidFill>
          <a:ln/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16348" y="2543861"/>
            <a:ext cx="307238" cy="307238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3736696" y="3200400"/>
            <a:ext cx="206654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626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Multi-agent orchestration</a:t>
            </a:r>
            <a:endParaRPr lang="en-US" sz="1350" dirty="0"/>
          </a:p>
        </p:txBody>
      </p:sp>
      <p:sp>
        <p:nvSpPr>
          <p:cNvPr id="14" name="Text 9"/>
          <p:cNvSpPr/>
          <p:nvPr/>
        </p:nvSpPr>
        <p:spPr>
          <a:xfrm>
            <a:off x="3736696" y="3794760"/>
            <a:ext cx="206654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Agents reason, call tools, and share memory to complete tasks.</a:t>
            </a:r>
            <a:endParaRPr lang="en-US" sz="1100" dirty="0"/>
          </a:p>
        </p:txBody>
      </p:sp>
      <p:sp>
        <p:nvSpPr>
          <p:cNvPr id="15" name="Shape 10"/>
          <p:cNvSpPr/>
          <p:nvPr/>
        </p:nvSpPr>
        <p:spPr>
          <a:xfrm>
            <a:off x="5903824" y="3236976"/>
            <a:ext cx="384048" cy="384048"/>
          </a:xfrm>
          <a:prstGeom prst="ellipse">
            <a:avLst/>
          </a:prstGeom>
          <a:solidFill>
            <a:srgbClr val="C9A227"/>
          </a:solidFill>
          <a:ln/>
        </p:spPr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03676" y="3336828"/>
            <a:ext cx="184343" cy="184343"/>
          </a:xfrm>
          <a:prstGeom prst="rect">
            <a:avLst/>
          </a:prstGeom>
        </p:spPr>
      </p:pic>
      <p:sp>
        <p:nvSpPr>
          <p:cNvPr id="17" name="Shape 11"/>
          <p:cNvSpPr/>
          <p:nvPr/>
        </p:nvSpPr>
        <p:spPr>
          <a:xfrm>
            <a:off x="6223864" y="2103120"/>
            <a:ext cx="2395728" cy="2651760"/>
          </a:xfrm>
          <a:prstGeom prst="roundRect">
            <a:avLst>
              <a:gd name="adj" fmla="val 3817"/>
            </a:avLst>
          </a:prstGeom>
          <a:solidFill>
            <a:srgbClr val="EEF4F0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8" name="Shape 12"/>
          <p:cNvSpPr/>
          <p:nvPr/>
        </p:nvSpPr>
        <p:spPr>
          <a:xfrm>
            <a:off x="7101688" y="2377440"/>
            <a:ext cx="640080" cy="640080"/>
          </a:xfrm>
          <a:prstGeom prst="ellipse">
            <a:avLst/>
          </a:prstGeom>
          <a:solidFill>
            <a:srgbClr val="0F4C3A"/>
          </a:solidFill>
          <a:ln/>
        </p:spPr>
      </p:sp>
      <p:pic>
        <p:nvPicPr>
          <p:cNvPr id="1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68108" y="2543861"/>
            <a:ext cx="307238" cy="307238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6388456" y="3200400"/>
            <a:ext cx="206654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626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Halal Filter checks every step</a:t>
            </a:r>
            <a:endParaRPr lang="en-US" sz="1350" dirty="0"/>
          </a:p>
        </p:txBody>
      </p:sp>
      <p:sp>
        <p:nvSpPr>
          <p:cNvPr id="21" name="Text 14"/>
          <p:cNvSpPr/>
          <p:nvPr/>
        </p:nvSpPr>
        <p:spPr>
          <a:xfrm>
            <a:off x="6388456" y="3794760"/>
            <a:ext cx="206654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input and output is screened for gambling, riba, and harmful content.</a:t>
            </a:r>
            <a:endParaRPr lang="en-US" sz="1100" dirty="0"/>
          </a:p>
        </p:txBody>
      </p:sp>
      <p:sp>
        <p:nvSpPr>
          <p:cNvPr id="22" name="Shape 15"/>
          <p:cNvSpPr/>
          <p:nvPr/>
        </p:nvSpPr>
        <p:spPr>
          <a:xfrm>
            <a:off x="8555584" y="3236976"/>
            <a:ext cx="384048" cy="384048"/>
          </a:xfrm>
          <a:prstGeom prst="ellipse">
            <a:avLst/>
          </a:prstGeom>
          <a:solidFill>
            <a:srgbClr val="C9A227"/>
          </a:solidFill>
          <a:ln/>
        </p:spPr>
      </p:sp>
      <p:pic>
        <p:nvPicPr>
          <p:cNvPr id="23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655436" y="3336828"/>
            <a:ext cx="184343" cy="184343"/>
          </a:xfrm>
          <a:prstGeom prst="rect">
            <a:avLst/>
          </a:prstGeom>
        </p:spPr>
      </p:pic>
      <p:sp>
        <p:nvSpPr>
          <p:cNvPr id="24" name="Shape 16"/>
          <p:cNvSpPr/>
          <p:nvPr/>
        </p:nvSpPr>
        <p:spPr>
          <a:xfrm>
            <a:off x="8875624" y="2103120"/>
            <a:ext cx="2395728" cy="2651760"/>
          </a:xfrm>
          <a:prstGeom prst="roundRect">
            <a:avLst>
              <a:gd name="adj" fmla="val 3817"/>
            </a:avLst>
          </a:prstGeom>
          <a:solidFill>
            <a:srgbClr val="EEF4F0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25" name="Shape 17"/>
          <p:cNvSpPr/>
          <p:nvPr/>
        </p:nvSpPr>
        <p:spPr>
          <a:xfrm>
            <a:off x="9753448" y="2377440"/>
            <a:ext cx="640080" cy="640080"/>
          </a:xfrm>
          <a:prstGeom prst="ellipse">
            <a:avLst/>
          </a:prstGeom>
          <a:solidFill>
            <a:srgbClr val="0F4C3A"/>
          </a:solidFill>
          <a:ln/>
        </p:spPr>
      </p:sp>
      <p:pic>
        <p:nvPicPr>
          <p:cNvPr id="26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919868" y="2543861"/>
            <a:ext cx="307238" cy="307238"/>
          </a:xfrm>
          <a:prstGeom prst="rect">
            <a:avLst/>
          </a:prstGeom>
        </p:spPr>
      </p:pic>
      <p:sp>
        <p:nvSpPr>
          <p:cNvPr id="27" name="Text 18"/>
          <p:cNvSpPr/>
          <p:nvPr/>
        </p:nvSpPr>
        <p:spPr>
          <a:xfrm>
            <a:off x="9040216" y="3200400"/>
            <a:ext cx="206654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626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Connects to real life</a:t>
            </a:r>
            <a:endParaRPr lang="en-US" sz="1350" dirty="0"/>
          </a:p>
        </p:txBody>
      </p:sp>
      <p:sp>
        <p:nvSpPr>
          <p:cNvPr id="28" name="Text 19"/>
          <p:cNvSpPr/>
          <p:nvPr/>
        </p:nvSpPr>
        <p:spPr>
          <a:xfrm>
            <a:off x="9040216" y="3794760"/>
            <a:ext cx="206654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Gmail, bank accounts, IP cameras, WhatsApp, and calendars.</a:t>
            </a:r>
            <a:endParaRPr lang="en-US" sz="1100" dirty="0"/>
          </a:p>
        </p:txBody>
      </p:sp>
      <p:sp>
        <p:nvSpPr>
          <p:cNvPr id="29" name="Text 20"/>
          <p:cNvSpPr/>
          <p:nvPr/>
        </p:nvSpPr>
        <p:spPr>
          <a:xfrm>
            <a:off x="640080" y="5166360"/>
            <a:ext cx="1091153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5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agent — and every action it takes — passes through the same Halal Filter, regardless of which integration it touches.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911535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626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now: AI agents are going mainstream — the halal economy is a massive, underserved vertical</a:t>
            </a:r>
            <a:endParaRPr lang="en-US" sz="24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640080" y="1783080"/>
          <a:ext cx="6035040" cy="39319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Shape 1"/>
          <p:cNvSpPr/>
          <p:nvPr/>
        </p:nvSpPr>
        <p:spPr>
          <a:xfrm>
            <a:off x="7269480" y="1828800"/>
            <a:ext cx="4251960" cy="1143000"/>
          </a:xfrm>
          <a:prstGeom prst="roundRect">
            <a:avLst>
              <a:gd name="adj" fmla="val 8000"/>
            </a:avLst>
          </a:prstGeom>
          <a:solidFill>
            <a:srgbClr val="EEF4F0"/>
          </a:solidFill>
          <a:ln/>
        </p:spPr>
      </p:sp>
      <p:sp>
        <p:nvSpPr>
          <p:cNvPr id="5" name="Text 2"/>
          <p:cNvSpPr/>
          <p:nvPr/>
        </p:nvSpPr>
        <p:spPr>
          <a:xfrm>
            <a:off x="7498080" y="1920240"/>
            <a:ext cx="3840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4C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2.0B → 2.8B</a:t>
            </a:r>
            <a:endParaRPr lang="en-US" sz="2400" dirty="0"/>
          </a:p>
        </p:txBody>
      </p:sp>
      <p:sp>
        <p:nvSpPr>
          <p:cNvPr id="6" name="Text 3"/>
          <p:cNvSpPr/>
          <p:nvPr/>
        </p:nvSpPr>
        <p:spPr>
          <a:xfrm>
            <a:off x="7498080" y="2432304"/>
            <a:ext cx="3886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Muslims globally by 2050 — 30% of world population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7269480" y="3154680"/>
            <a:ext cx="4251960" cy="1143000"/>
          </a:xfrm>
          <a:prstGeom prst="roundRect">
            <a:avLst>
              <a:gd name="adj" fmla="val 8000"/>
            </a:avLst>
          </a:prstGeom>
          <a:solidFill>
            <a:srgbClr val="EEF4F0"/>
          </a:solidFill>
          <a:ln/>
        </p:spPr>
      </p:sp>
      <p:sp>
        <p:nvSpPr>
          <p:cNvPr id="8" name="Text 5"/>
          <p:cNvSpPr/>
          <p:nvPr/>
        </p:nvSpPr>
        <p:spPr>
          <a:xfrm>
            <a:off x="7498080" y="3246120"/>
            <a:ext cx="3840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4C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5.5%+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7498080" y="3758184"/>
            <a:ext cx="3886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Annual growth of the Islamic economy, outpacing global GDP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7269480" y="4480560"/>
            <a:ext cx="4251960" cy="1143000"/>
          </a:xfrm>
          <a:prstGeom prst="roundRect">
            <a:avLst>
              <a:gd name="adj" fmla="val 8000"/>
            </a:avLst>
          </a:prstGeom>
          <a:solidFill>
            <a:srgbClr val="EEF4F0"/>
          </a:solidFill>
          <a:ln/>
        </p:spPr>
      </p:sp>
      <p:sp>
        <p:nvSpPr>
          <p:cNvPr id="11" name="Text 8"/>
          <p:cNvSpPr/>
          <p:nvPr/>
        </p:nvSpPr>
        <p:spPr>
          <a:xfrm>
            <a:off x="7498080" y="4572000"/>
            <a:ext cx="3840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4C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$0</a:t>
            </a:r>
            <a:endParaRPr lang="en-US" sz="2400" dirty="0"/>
          </a:p>
        </p:txBody>
      </p:sp>
      <p:sp>
        <p:nvSpPr>
          <p:cNvPr id="12" name="Text 9"/>
          <p:cNvSpPr/>
          <p:nvPr/>
        </p:nvSpPr>
        <p:spPr>
          <a:xfrm>
            <a:off x="7498080" y="5084064"/>
            <a:ext cx="3886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No-code agent platforms today serving this audience with built-in compliance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640080" y="5989320"/>
            <a:ext cx="1091153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DinarStandard, State of the Global Islamic Economy Report 2025/26; Pew Research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91153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626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Business model: three complementary revenue streams</a:t>
            </a:r>
            <a:endParaRPr lang="en-US" sz="2900" dirty="0"/>
          </a:p>
        </p:txBody>
      </p:sp>
      <p:sp>
        <p:nvSpPr>
          <p:cNvPr id="3" name="Shape 1"/>
          <p:cNvSpPr/>
          <p:nvPr/>
        </p:nvSpPr>
        <p:spPr>
          <a:xfrm>
            <a:off x="640080" y="1783080"/>
            <a:ext cx="3429000" cy="3520440"/>
          </a:xfrm>
          <a:prstGeom prst="roundRect">
            <a:avLst>
              <a:gd name="adj" fmla="val 2667"/>
            </a:avLst>
          </a:prstGeom>
          <a:solidFill>
            <a:srgbClr val="EEF4F0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960120" y="2103120"/>
            <a:ext cx="594360" cy="594360"/>
          </a:xfrm>
          <a:prstGeom prst="ellipse">
            <a:avLst/>
          </a:prstGeom>
          <a:solidFill>
            <a:srgbClr val="C9A227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14654" y="2257654"/>
            <a:ext cx="285293" cy="285293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914400" y="2834640"/>
            <a:ext cx="2880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626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Subscriptions</a:t>
            </a:r>
            <a:endParaRPr lang="en-US" sz="1700" dirty="0"/>
          </a:p>
        </p:txBody>
      </p:sp>
      <p:sp>
        <p:nvSpPr>
          <p:cNvPr id="7" name="Text 4"/>
          <p:cNvSpPr/>
          <p:nvPr/>
        </p:nvSpPr>
        <p:spPr>
          <a:xfrm>
            <a:off x="914400" y="3337560"/>
            <a:ext cx="28803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Freemium → premium tiers for personal agents. Per-seat SaaS pricing for business agent modules.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4361688" y="1783080"/>
            <a:ext cx="3429000" cy="3520440"/>
          </a:xfrm>
          <a:prstGeom prst="roundRect">
            <a:avLst>
              <a:gd name="adj" fmla="val 2667"/>
            </a:avLst>
          </a:prstGeom>
          <a:solidFill>
            <a:srgbClr val="EEF4F0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4681728" y="2103120"/>
            <a:ext cx="594360" cy="594360"/>
          </a:xfrm>
          <a:prstGeom prst="ellipse">
            <a:avLst/>
          </a:prstGeom>
          <a:solidFill>
            <a:srgbClr val="C9A227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36262" y="2257654"/>
            <a:ext cx="285293" cy="285293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4636008" y="2834640"/>
            <a:ext cx="2880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626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Marketplace Royalties</a:t>
            </a:r>
            <a:endParaRPr lang="en-US" sz="1700" dirty="0"/>
          </a:p>
        </p:txBody>
      </p:sp>
      <p:sp>
        <p:nvSpPr>
          <p:cNvPr id="12" name="Text 8"/>
          <p:cNvSpPr/>
          <p:nvPr/>
        </p:nvSpPr>
        <p:spPr>
          <a:xfrm>
            <a:off x="4636008" y="3337560"/>
            <a:ext cx="28803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creators earn a share of installs and usage. AgentNet takes a platform cut on every transaction.</a:t>
            </a:r>
            <a:endParaRPr lang="en-US" sz="1300" dirty="0"/>
          </a:p>
        </p:txBody>
      </p:sp>
      <p:sp>
        <p:nvSpPr>
          <p:cNvPr id="13" name="Shape 9"/>
          <p:cNvSpPr/>
          <p:nvPr/>
        </p:nvSpPr>
        <p:spPr>
          <a:xfrm>
            <a:off x="8083296" y="1783080"/>
            <a:ext cx="3429000" cy="3520440"/>
          </a:xfrm>
          <a:prstGeom prst="roundRect">
            <a:avLst>
              <a:gd name="adj" fmla="val 2667"/>
            </a:avLst>
          </a:prstGeom>
          <a:solidFill>
            <a:srgbClr val="EEF4F0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8403336" y="2103120"/>
            <a:ext cx="594360" cy="594360"/>
          </a:xfrm>
          <a:prstGeom prst="ellipse">
            <a:avLst/>
          </a:prstGeom>
          <a:solidFill>
            <a:srgbClr val="C9A227"/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57870" y="2257654"/>
            <a:ext cx="285293" cy="285293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8357616" y="2834640"/>
            <a:ext cx="2880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626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Usage-Based Add-ons</a:t>
            </a:r>
            <a:endParaRPr lang="en-US" sz="1700" dirty="0"/>
          </a:p>
        </p:txBody>
      </p:sp>
      <p:sp>
        <p:nvSpPr>
          <p:cNvPr id="17" name="Text 12"/>
          <p:cNvSpPr/>
          <p:nvPr/>
        </p:nvSpPr>
        <p:spPr>
          <a:xfrm>
            <a:off x="8357616" y="3337560"/>
            <a:ext cx="28803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Camera monitoring, premium bank/finance modules, and API usage billed by volume.</a:t>
            </a:r>
            <a:endParaRPr lang="en-US" sz="1300" dirty="0"/>
          </a:p>
        </p:txBody>
      </p:sp>
      <p:sp>
        <p:nvSpPr>
          <p:cNvPr id="18" name="Text 13"/>
          <p:cNvSpPr/>
          <p:nvPr/>
        </p:nvSpPr>
        <p:spPr>
          <a:xfrm>
            <a:off x="640080" y="5532120"/>
            <a:ext cx="1091153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5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model proven by n8n, Zapier, and the GPT/Claude app stores — applied to a vertical with no incumbent.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91153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626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 one else is building this for the halal economy</a:t>
            </a:r>
            <a:endParaRPr lang="en-US" sz="29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600200"/>
          <a:ext cx="10911535" cy="914400"/>
        </p:xfrm>
        <a:graphic>
          <a:graphicData uri="http://schemas.openxmlformats.org/drawingml/2006/table">
            <a:tbl>
              <a:tblPr/>
              <a:tblGrid>
                <a:gridCol w="4206240"/>
                <a:gridCol w="1783080"/>
                <a:gridCol w="1783080"/>
                <a:gridCol w="1783080"/>
                <a:gridCol w="1783080"/>
              </a:tblGrid>
              <a:tr h="7132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4C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AgentNet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9A22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n8n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4C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Flowise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4C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Dify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4C3A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6261F"/>
                          </a:solidFill>
                        </a:rPr>
                        <a:t>No-code agent builder</a:t>
                      </a:r>
                      <a:endParaRPr lang="en-US" sz="12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0F4C3A"/>
                          </a:solidFill>
                        </a:rPr>
                        <a:t>Yes</a:t>
                      </a:r>
                      <a:endParaRPr lang="en-US" sz="12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3D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0F4C3A"/>
                          </a:solidFill>
                        </a:rPr>
                        <a:t>Yes</a:t>
                      </a:r>
                      <a:endParaRPr lang="en-US" sz="12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0F4C3A"/>
                          </a:solidFill>
                        </a:rPr>
                        <a:t>Yes</a:t>
                      </a:r>
                      <a:endParaRPr lang="en-US" sz="12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0F4C3A"/>
                          </a:solidFill>
                        </a:rPr>
                        <a:t>Yes</a:t>
                      </a:r>
                      <a:endParaRPr lang="en-US" sz="12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6261F"/>
                          </a:solidFill>
                        </a:rPr>
                        <a:t>Multi-agent orchestration</a:t>
                      </a:r>
                      <a:endParaRPr lang="en-US" sz="12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0F4C3A"/>
                          </a:solidFill>
                        </a:rPr>
                        <a:t>Yes</a:t>
                      </a:r>
                      <a:endParaRPr lang="en-US" sz="12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3D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9A7B12"/>
                          </a:solidFill>
                        </a:rPr>
                        <a:t>Partial</a:t>
                      </a:r>
                      <a:endParaRPr lang="en-US" sz="12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0F4C3A"/>
                          </a:solidFill>
                        </a:rPr>
                        <a:t>Yes</a:t>
                      </a:r>
                      <a:endParaRPr lang="en-US" sz="12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9A7B12"/>
                          </a:solidFill>
                        </a:rPr>
                        <a:t>Partial</a:t>
                      </a:r>
                      <a:endParaRPr lang="en-US" sz="12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6261F"/>
                          </a:solidFill>
                        </a:rPr>
                        <a:t>Personal + business + family verticals</a:t>
                      </a:r>
                      <a:endParaRPr lang="en-US" sz="12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0F4C3A"/>
                          </a:solidFill>
                        </a:rPr>
                        <a:t>Yes</a:t>
                      </a:r>
                      <a:endParaRPr lang="en-US" sz="12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3D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B3261E"/>
                          </a:solidFill>
                        </a:rPr>
                        <a:t>No</a:t>
                      </a:r>
                      <a:endParaRPr lang="en-US" sz="12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B3261E"/>
                          </a:solidFill>
                        </a:rPr>
                        <a:t>No</a:t>
                      </a:r>
                      <a:endParaRPr lang="en-US" sz="12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B3261E"/>
                          </a:solidFill>
                        </a:rPr>
                        <a:t>No</a:t>
                      </a:r>
                      <a:endParaRPr lang="en-US" sz="12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6261F"/>
                          </a:solidFill>
                        </a:rPr>
                        <a:t>Halal / values filter built-in</a:t>
                      </a:r>
                      <a:endParaRPr lang="en-US" sz="12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0F4C3A"/>
                          </a:solidFill>
                        </a:rPr>
                        <a:t>Yes</a:t>
                      </a:r>
                      <a:endParaRPr lang="en-US" sz="12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3D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B3261E"/>
                          </a:solidFill>
                        </a:rPr>
                        <a:t>No</a:t>
                      </a:r>
                      <a:endParaRPr lang="en-US" sz="12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B3261E"/>
                          </a:solidFill>
                        </a:rPr>
                        <a:t>No</a:t>
                      </a:r>
                      <a:endParaRPr lang="en-US" sz="12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B3261E"/>
                          </a:solidFill>
                        </a:rPr>
                        <a:t>No</a:t>
                      </a:r>
                      <a:endParaRPr lang="en-US" sz="12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6261F"/>
                          </a:solidFill>
                        </a:rPr>
                        <a:t>Creator marketplace &amp; royalties</a:t>
                      </a:r>
                      <a:endParaRPr lang="en-US" sz="12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0F4C3A"/>
                          </a:solidFill>
                        </a:rPr>
                        <a:t>Yes</a:t>
                      </a:r>
                      <a:endParaRPr lang="en-US" sz="12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3D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9A7B12"/>
                          </a:solidFill>
                        </a:rPr>
                        <a:t>Partial</a:t>
                      </a:r>
                      <a:endParaRPr lang="en-US" sz="12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B3261E"/>
                          </a:solidFill>
                        </a:rPr>
                        <a:t>No</a:t>
                      </a:r>
                      <a:endParaRPr lang="en-US" sz="12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9A7B12"/>
                          </a:solidFill>
                        </a:rPr>
                        <a:t>Partial</a:t>
                      </a:r>
                      <a:endParaRPr lang="en-US" sz="12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640080" y="5989320"/>
            <a:ext cx="1091153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Partial = available via third-party plugins or manual configuration, not native.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4C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914400"/>
            <a:ext cx="914400" cy="914400"/>
          </a:xfrm>
          <a:prstGeom prst="ellipse">
            <a:avLst/>
          </a:prstGeom>
          <a:solidFill>
            <a:srgbClr val="0A352A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77824" y="1152144"/>
            <a:ext cx="438912" cy="43891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40080" y="2057400"/>
            <a:ext cx="100584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2-person team building AI-native — Claude is our co-architect</a:t>
            </a:r>
            <a:endParaRPr lang="en-US" sz="3000" dirty="0"/>
          </a:p>
        </p:txBody>
      </p:sp>
      <p:sp>
        <p:nvSpPr>
          <p:cNvPr id="5" name="Text 2"/>
          <p:cNvSpPr/>
          <p:nvPr/>
        </p:nvSpPr>
        <p:spPr>
          <a:xfrm>
            <a:off x="640080" y="3337560"/>
            <a:ext cx="9875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4EF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We're designing AgentNet's architecture, agent runtime, and Halal Filter logic in direct collaboration with Claude (Anthropic) — compressing months of traditional engineering into weeks of focused building.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640080" y="4434840"/>
            <a:ext cx="9875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i="1" dirty="0">
                <a:solidFill>
                  <a:srgbClr val="E4C7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two founders can architect a production-grade multi-agent system this fast — imagine what users will build on AgentNet.</a:t>
            </a:r>
            <a:endParaRPr lang="en-US" sz="1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91153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26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8-week path to a working MVP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68884" y="1965960"/>
            <a:ext cx="2542032" cy="3566160"/>
          </a:xfrm>
          <a:prstGeom prst="roundRect">
            <a:avLst>
              <a:gd name="adj" fmla="val 3597"/>
            </a:avLst>
          </a:prstGeom>
          <a:solidFill>
            <a:srgbClr val="EEF4F0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668884" y="1965960"/>
            <a:ext cx="2542032" cy="502920"/>
          </a:xfrm>
          <a:prstGeom prst="roundRect">
            <a:avLst>
              <a:gd name="adj" fmla="val 18182"/>
            </a:avLst>
          </a:prstGeom>
          <a:solidFill>
            <a:srgbClr val="0F4C3A"/>
          </a:solidFill>
          <a:ln/>
        </p:spPr>
      </p:sp>
      <p:sp>
        <p:nvSpPr>
          <p:cNvPr id="5" name="Text 3"/>
          <p:cNvSpPr/>
          <p:nvPr/>
        </p:nvSpPr>
        <p:spPr>
          <a:xfrm>
            <a:off x="668884" y="1965960"/>
            <a:ext cx="25420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4C7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Wk 1–2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1642720" y="2743200"/>
            <a:ext cx="594360" cy="594360"/>
          </a:xfrm>
          <a:prstGeom prst="ellipse">
            <a:avLst/>
          </a:prstGeom>
          <a:solidFill>
            <a:srgbClr val="C9A227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97253" y="2897734"/>
            <a:ext cx="285293" cy="285293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51764" y="3520440"/>
            <a:ext cx="21762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626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851764" y="4251960"/>
            <a:ext cx="217627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 + 2FA, infra, chat UI, agent CRUD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3160624" y="3584448"/>
            <a:ext cx="329184" cy="329184"/>
          </a:xfrm>
          <a:prstGeom prst="ellipse">
            <a:avLst/>
          </a:prstGeom>
          <a:solidFill>
            <a:srgbClr val="0F4C3A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46211" y="3670036"/>
            <a:ext cx="158008" cy="158008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3439516" y="1965960"/>
            <a:ext cx="2542032" cy="3566160"/>
          </a:xfrm>
          <a:prstGeom prst="roundRect">
            <a:avLst>
              <a:gd name="adj" fmla="val 3597"/>
            </a:avLst>
          </a:prstGeom>
          <a:solidFill>
            <a:srgbClr val="EEF4F0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3" name="Shape 9"/>
          <p:cNvSpPr/>
          <p:nvPr/>
        </p:nvSpPr>
        <p:spPr>
          <a:xfrm>
            <a:off x="3439516" y="1965960"/>
            <a:ext cx="2542032" cy="502920"/>
          </a:xfrm>
          <a:prstGeom prst="roundRect">
            <a:avLst>
              <a:gd name="adj" fmla="val 18182"/>
            </a:avLst>
          </a:prstGeom>
          <a:solidFill>
            <a:srgbClr val="0F4C3A"/>
          </a:solidFill>
          <a:ln/>
        </p:spPr>
      </p:sp>
      <p:sp>
        <p:nvSpPr>
          <p:cNvPr id="14" name="Text 10"/>
          <p:cNvSpPr/>
          <p:nvPr/>
        </p:nvSpPr>
        <p:spPr>
          <a:xfrm>
            <a:off x="3439516" y="1965960"/>
            <a:ext cx="25420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4C7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Wk 3–4</a:t>
            </a:r>
            <a:endParaRPr lang="en-US" sz="1400" dirty="0"/>
          </a:p>
        </p:txBody>
      </p:sp>
      <p:sp>
        <p:nvSpPr>
          <p:cNvPr id="15" name="Shape 11"/>
          <p:cNvSpPr/>
          <p:nvPr/>
        </p:nvSpPr>
        <p:spPr>
          <a:xfrm>
            <a:off x="4413352" y="2743200"/>
            <a:ext cx="594360" cy="594360"/>
          </a:xfrm>
          <a:prstGeom prst="ellipse">
            <a:avLst/>
          </a:prstGeom>
          <a:solidFill>
            <a:srgbClr val="C9A227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67885" y="2897734"/>
            <a:ext cx="285293" cy="285293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3622396" y="3520440"/>
            <a:ext cx="21762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626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 Agents + Halal Filter v1</a:t>
            </a:r>
            <a:endParaRPr lang="en-US" sz="1400" dirty="0"/>
          </a:p>
        </p:txBody>
      </p:sp>
      <p:sp>
        <p:nvSpPr>
          <p:cNvPr id="18" name="Text 13"/>
          <p:cNvSpPr/>
          <p:nvPr/>
        </p:nvSpPr>
        <p:spPr>
          <a:xfrm>
            <a:off x="3622396" y="4251960"/>
            <a:ext cx="217627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Prayer/Qur'an, mental wellness, health agents go live</a:t>
            </a:r>
            <a:endParaRPr lang="en-US" sz="1150" dirty="0"/>
          </a:p>
        </p:txBody>
      </p:sp>
      <p:sp>
        <p:nvSpPr>
          <p:cNvPr id="19" name="Shape 14"/>
          <p:cNvSpPr/>
          <p:nvPr/>
        </p:nvSpPr>
        <p:spPr>
          <a:xfrm>
            <a:off x="5931256" y="3584448"/>
            <a:ext cx="329184" cy="329184"/>
          </a:xfrm>
          <a:prstGeom prst="ellipse">
            <a:avLst/>
          </a:prstGeom>
          <a:solidFill>
            <a:srgbClr val="0F4C3A"/>
          </a:solidFill>
          <a:ln/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16843" y="3670036"/>
            <a:ext cx="158008" cy="158008"/>
          </a:xfrm>
          <a:prstGeom prst="rect">
            <a:avLst/>
          </a:prstGeom>
        </p:spPr>
      </p:pic>
      <p:sp>
        <p:nvSpPr>
          <p:cNvPr id="21" name="Shape 15"/>
          <p:cNvSpPr/>
          <p:nvPr/>
        </p:nvSpPr>
        <p:spPr>
          <a:xfrm>
            <a:off x="6210148" y="1965960"/>
            <a:ext cx="2542032" cy="3566160"/>
          </a:xfrm>
          <a:prstGeom prst="roundRect">
            <a:avLst>
              <a:gd name="adj" fmla="val 3597"/>
            </a:avLst>
          </a:prstGeom>
          <a:solidFill>
            <a:srgbClr val="EEF4F0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22" name="Shape 16"/>
          <p:cNvSpPr/>
          <p:nvPr/>
        </p:nvSpPr>
        <p:spPr>
          <a:xfrm>
            <a:off x="6210148" y="1965960"/>
            <a:ext cx="2542032" cy="502920"/>
          </a:xfrm>
          <a:prstGeom prst="roundRect">
            <a:avLst>
              <a:gd name="adj" fmla="val 18182"/>
            </a:avLst>
          </a:prstGeom>
          <a:solidFill>
            <a:srgbClr val="0F4C3A"/>
          </a:solidFill>
          <a:ln/>
        </p:spPr>
      </p:sp>
      <p:sp>
        <p:nvSpPr>
          <p:cNvPr id="23" name="Text 17"/>
          <p:cNvSpPr/>
          <p:nvPr/>
        </p:nvSpPr>
        <p:spPr>
          <a:xfrm>
            <a:off x="6210148" y="1965960"/>
            <a:ext cx="25420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4C7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Wk 5–6</a:t>
            </a:r>
            <a:endParaRPr lang="en-US" sz="1400" dirty="0"/>
          </a:p>
        </p:txBody>
      </p:sp>
      <p:sp>
        <p:nvSpPr>
          <p:cNvPr id="24" name="Shape 18"/>
          <p:cNvSpPr/>
          <p:nvPr/>
        </p:nvSpPr>
        <p:spPr>
          <a:xfrm>
            <a:off x="7183984" y="2743200"/>
            <a:ext cx="594360" cy="594360"/>
          </a:xfrm>
          <a:prstGeom prst="ellipse">
            <a:avLst/>
          </a:prstGeom>
          <a:solidFill>
            <a:srgbClr val="C9A227"/>
          </a:solidFill>
          <a:ln/>
        </p:spPr>
      </p:sp>
      <p:pic>
        <p:nvPicPr>
          <p:cNvPr id="2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38517" y="2897734"/>
            <a:ext cx="285293" cy="285293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6393028" y="3520440"/>
            <a:ext cx="21762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626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Agents + Camera MVP</a:t>
            </a:r>
            <a:endParaRPr lang="en-US" sz="1400" dirty="0"/>
          </a:p>
        </p:txBody>
      </p:sp>
      <p:sp>
        <p:nvSpPr>
          <p:cNvPr id="27" name="Text 20"/>
          <p:cNvSpPr/>
          <p:nvPr/>
        </p:nvSpPr>
        <p:spPr>
          <a:xfrm>
            <a:off x="6393028" y="4251960"/>
            <a:ext cx="217627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Inventory, finance, store-camera monitoring, multi-agent routing</a:t>
            </a:r>
            <a:endParaRPr lang="en-US" sz="1150" dirty="0"/>
          </a:p>
        </p:txBody>
      </p:sp>
      <p:sp>
        <p:nvSpPr>
          <p:cNvPr id="28" name="Shape 21"/>
          <p:cNvSpPr/>
          <p:nvPr/>
        </p:nvSpPr>
        <p:spPr>
          <a:xfrm>
            <a:off x="8701888" y="3584448"/>
            <a:ext cx="329184" cy="329184"/>
          </a:xfrm>
          <a:prstGeom prst="ellipse">
            <a:avLst/>
          </a:prstGeom>
          <a:solidFill>
            <a:srgbClr val="0F4C3A"/>
          </a:solidFill>
          <a:ln/>
        </p:spPr>
      </p:sp>
      <p:pic>
        <p:nvPicPr>
          <p:cNvPr id="29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787475" y="3670036"/>
            <a:ext cx="158008" cy="158008"/>
          </a:xfrm>
          <a:prstGeom prst="rect">
            <a:avLst/>
          </a:prstGeom>
        </p:spPr>
      </p:pic>
      <p:sp>
        <p:nvSpPr>
          <p:cNvPr id="30" name="Shape 22"/>
          <p:cNvSpPr/>
          <p:nvPr/>
        </p:nvSpPr>
        <p:spPr>
          <a:xfrm>
            <a:off x="8980780" y="1965960"/>
            <a:ext cx="2542032" cy="3566160"/>
          </a:xfrm>
          <a:prstGeom prst="roundRect">
            <a:avLst>
              <a:gd name="adj" fmla="val 3597"/>
            </a:avLst>
          </a:prstGeom>
          <a:solidFill>
            <a:srgbClr val="EEF4F0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31" name="Shape 23"/>
          <p:cNvSpPr/>
          <p:nvPr/>
        </p:nvSpPr>
        <p:spPr>
          <a:xfrm>
            <a:off x="8980780" y="1965960"/>
            <a:ext cx="2542032" cy="502920"/>
          </a:xfrm>
          <a:prstGeom prst="roundRect">
            <a:avLst>
              <a:gd name="adj" fmla="val 18182"/>
            </a:avLst>
          </a:prstGeom>
          <a:solidFill>
            <a:srgbClr val="0F4C3A"/>
          </a:solidFill>
          <a:ln/>
        </p:spPr>
      </p:sp>
      <p:sp>
        <p:nvSpPr>
          <p:cNvPr id="32" name="Text 24"/>
          <p:cNvSpPr/>
          <p:nvPr/>
        </p:nvSpPr>
        <p:spPr>
          <a:xfrm>
            <a:off x="8980780" y="1965960"/>
            <a:ext cx="25420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4C7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Wk 7–8</a:t>
            </a:r>
            <a:endParaRPr lang="en-US" sz="1400" dirty="0"/>
          </a:p>
        </p:txBody>
      </p:sp>
      <p:sp>
        <p:nvSpPr>
          <p:cNvPr id="33" name="Shape 25"/>
          <p:cNvSpPr/>
          <p:nvPr/>
        </p:nvSpPr>
        <p:spPr>
          <a:xfrm>
            <a:off x="9954616" y="2743200"/>
            <a:ext cx="594360" cy="594360"/>
          </a:xfrm>
          <a:prstGeom prst="ellipse">
            <a:avLst/>
          </a:prstGeom>
          <a:solidFill>
            <a:srgbClr val="C9A227"/>
          </a:solidFill>
          <a:ln/>
        </p:spPr>
      </p:sp>
      <p:pic>
        <p:nvPicPr>
          <p:cNvPr id="34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109149" y="2897734"/>
            <a:ext cx="285293" cy="285293"/>
          </a:xfrm>
          <a:prstGeom prst="rect">
            <a:avLst/>
          </a:prstGeom>
        </p:spPr>
      </p:pic>
      <p:sp>
        <p:nvSpPr>
          <p:cNvPr id="35" name="Text 26"/>
          <p:cNvSpPr/>
          <p:nvPr/>
        </p:nvSpPr>
        <p:spPr>
          <a:xfrm>
            <a:off x="9163660" y="3520440"/>
            <a:ext cx="21762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626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Integrations + Marketplace + Beta</a:t>
            </a:r>
            <a:endParaRPr lang="en-US" sz="1400" dirty="0"/>
          </a:p>
        </p:txBody>
      </p:sp>
      <p:sp>
        <p:nvSpPr>
          <p:cNvPr id="36" name="Text 27"/>
          <p:cNvSpPr/>
          <p:nvPr/>
        </p:nvSpPr>
        <p:spPr>
          <a:xfrm>
            <a:off x="9163660" y="4251960"/>
            <a:ext cx="217627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WhatsApp/Telegram, Payme/Click, marketplace, closed beta launch</a:t>
            </a:r>
            <a:endParaRPr lang="en-US" sz="11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91153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626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we are, and what we're asking for</a:t>
            </a:r>
            <a:endParaRPr lang="en-US" sz="2900" dirty="0"/>
          </a:p>
        </p:txBody>
      </p:sp>
      <p:sp>
        <p:nvSpPr>
          <p:cNvPr id="3" name="Shape 1"/>
          <p:cNvSpPr/>
          <p:nvPr/>
        </p:nvSpPr>
        <p:spPr>
          <a:xfrm>
            <a:off x="640080" y="1691640"/>
            <a:ext cx="5120640" cy="4206240"/>
          </a:xfrm>
          <a:prstGeom prst="roundRect">
            <a:avLst>
              <a:gd name="adj" fmla="val 2174"/>
            </a:avLst>
          </a:prstGeom>
          <a:solidFill>
            <a:srgbClr val="EEF4F0"/>
          </a:solidFill>
          <a:ln/>
        </p:spPr>
      </p:sp>
      <p:sp>
        <p:nvSpPr>
          <p:cNvPr id="4" name="Shape 2"/>
          <p:cNvSpPr/>
          <p:nvPr/>
        </p:nvSpPr>
        <p:spPr>
          <a:xfrm>
            <a:off x="960120" y="1965960"/>
            <a:ext cx="548640" cy="548640"/>
          </a:xfrm>
          <a:prstGeom prst="ellipse">
            <a:avLst/>
          </a:prstGeom>
          <a:solidFill>
            <a:srgbClr val="0F4C3A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2766" y="2108606"/>
            <a:ext cx="263347" cy="263347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645920" y="1993392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626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960120" y="2697480"/>
            <a:ext cx="4526280" cy="3017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5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Idea stage, pre-seed — no funding raised to date</a:t>
            </a:r>
            <a:endParaRPr lang="en-US" sz="14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5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Building the MVP now, with this exact roadmap</a:t>
            </a:r>
            <a:endParaRPr lang="en-US" sz="14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5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founders, hands-on: full-stack engineering + AI-agent architecture</a:t>
            </a:r>
            <a:endParaRPr lang="en-US" sz="14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5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Building AI-natively — Claude as our AI co-architect from day one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6355080" y="1691640"/>
            <a:ext cx="5166360" cy="4206240"/>
          </a:xfrm>
          <a:prstGeom prst="roundRect">
            <a:avLst>
              <a:gd name="adj" fmla="val 2174"/>
            </a:avLst>
          </a:prstGeom>
          <a:solidFill>
            <a:srgbClr val="0F4C3A"/>
          </a:solidFill>
          <a:ln/>
        </p:spPr>
      </p:sp>
      <p:sp>
        <p:nvSpPr>
          <p:cNvPr id="9" name="Shape 6"/>
          <p:cNvSpPr/>
          <p:nvPr/>
        </p:nvSpPr>
        <p:spPr>
          <a:xfrm>
            <a:off x="6675120" y="1965960"/>
            <a:ext cx="548640" cy="548640"/>
          </a:xfrm>
          <a:prstGeom prst="ellipse">
            <a:avLst/>
          </a:prstGeom>
          <a:solidFill>
            <a:srgbClr val="0A352A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17766" y="2108606"/>
            <a:ext cx="263347" cy="263347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7360920" y="1938528"/>
            <a:ext cx="4023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we're asking from Alchemist Silkroad</a:t>
            </a:r>
            <a:endParaRPr lang="en-US" sz="1600" dirty="0"/>
          </a:p>
        </p:txBody>
      </p:sp>
      <p:sp>
        <p:nvSpPr>
          <p:cNvPr id="12" name="Text 8"/>
          <p:cNvSpPr/>
          <p:nvPr/>
        </p:nvSpPr>
        <p:spPr>
          <a:xfrm>
            <a:off x="6675120" y="2697480"/>
            <a:ext cx="4572000" cy="3017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400" dirty="0">
                <a:solidFill>
                  <a:srgbClr val="F4EF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 &amp; cloud / LLM API credits to build and scale our MVP</a:t>
            </a:r>
            <a:endParaRPr lang="en-US" sz="14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400" dirty="0">
                <a:solidFill>
                  <a:srgbClr val="F4EF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Hands-on enterprise GTM mentorship for the halal-economy vertical</a:t>
            </a:r>
            <a:endParaRPr lang="en-US" sz="14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400" dirty="0">
                <a:solidFill>
                  <a:srgbClr val="F4EF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 access to early pilot customers &amp; investors in the U.S.</a:t>
            </a:r>
            <a:endParaRPr lang="en-US" sz="1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F4C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592928" y="1005840"/>
            <a:ext cx="1005840" cy="1005840"/>
          </a:xfrm>
          <a:prstGeom prst="ellipse">
            <a:avLst/>
          </a:prstGeom>
          <a:solidFill>
            <a:srgbClr val="0A352A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54446" y="1267358"/>
            <a:ext cx="482803" cy="482803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97280" y="2331720"/>
            <a:ext cx="9997135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Every life. Every business.</a:t>
            </a:r>
            <a:endParaRPr lang="en-US" sz="3200" dirty="0"/>
          </a:p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Managed by AI agents that share your values.</a:t>
            </a:r>
            <a:endParaRPr lang="en-US" sz="3200" dirty="0"/>
          </a:p>
        </p:txBody>
      </p:sp>
      <p:sp>
        <p:nvSpPr>
          <p:cNvPr id="5" name="Text 2"/>
          <p:cNvSpPr/>
          <p:nvPr/>
        </p:nvSpPr>
        <p:spPr>
          <a:xfrm>
            <a:off x="1097280" y="3931920"/>
            <a:ext cx="999713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E4C7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AgentNet (Baraka AI) — halal by design, multi-agent by architecture.</a:t>
            </a:r>
            <a:endParaRPr lang="en-US" sz="1700" dirty="0"/>
          </a:p>
        </p:txBody>
      </p:sp>
      <p:sp>
        <p:nvSpPr>
          <p:cNvPr id="6" name="Text 3"/>
          <p:cNvSpPr/>
          <p:nvPr/>
        </p:nvSpPr>
        <p:spPr>
          <a:xfrm>
            <a:off x="1097280" y="5943600"/>
            <a:ext cx="999713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DBB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abdulboriyobidjonov92@gmail.com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AgentNet (Baraka AI) — Pitch Deck</dc:title>
  <dc:subject>PptxGenJS Presentation</dc:subject>
  <dc:creator>AgentNet (Baraka AI)</dc:creator>
  <cp:lastModifiedBy>AgentNet (Baraka AI)</cp:lastModifiedBy>
  <cp:revision>1</cp:revision>
  <dcterms:created xsi:type="dcterms:W3CDTF">2026-06-30T01:49:12Z</dcterms:created>
  <dcterms:modified xsi:type="dcterms:W3CDTF">2026-06-30T01:49:12Z</dcterms:modified>
</cp:coreProperties>
</file>